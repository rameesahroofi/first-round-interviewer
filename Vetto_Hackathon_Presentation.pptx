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18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2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E1219"/>
          </a:solidFill>
          <a:ln/>
        </p:spPr>
        <p:txBody>
          <a:bodyPr/>
          <a:lstStyle/>
          <a:p>
            <a:endParaRPr lang="en-AE" dirty="0"/>
          </a:p>
        </p:txBody>
      </p:sp>
      <p:pic>
        <p:nvPicPr>
          <p:cNvPr id="4" name="Image 0" descr="/home/claude/deck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331720"/>
            <a:ext cx="2743200" cy="2889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PRESENTATION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74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Vetto</a:t>
            </a:r>
            <a:endParaRPr lang="en-US" sz="6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Career Interview Platform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794760"/>
            <a:ext cx="329184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977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Job Description → a complete, evaluated career interview.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148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Vetto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4681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Mariam Aqeel · Ayesha Nehal · Rameesah Roofi · Saad Najam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199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Al-Khidmat Bano Qabil AI Hackathon •   4</a:t>
            </a:r>
            <a:r>
              <a:rPr lang="en-US" sz="1200" baseline="30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0664"/>
            <a:ext cx="10789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E" sz="3200" b="1" dirty="0">
                <a:solidFill>
                  <a:schemeClr val="bg1"/>
                </a:solidFill>
              </a:rPr>
              <a:t>Initial screening</a:t>
            </a: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interviews don't scale — and practice doesn't personalize.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1A212E"/>
          </a:solidFill>
          <a:ln w="12700">
            <a:solidFill>
              <a:srgbClr val="F0665E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problem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81" y="21768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305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Recruiters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4617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First-round screening is repetitive, manual, and time-consuming for every open role.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quality and depth vary a lot between different interviewers.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every candidate a personalized, resume-aware conversation doesn't scale.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82512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7"/>
          <p:cNvSpPr/>
          <p:nvPr/>
        </p:nvSpPr>
        <p:spPr>
          <a:xfrm>
            <a:off x="6702552" y="2103120"/>
            <a:ext cx="566928" cy="566928"/>
          </a:xfrm>
          <a:prstGeom prst="ellipse">
            <a:avLst/>
          </a:prstGeom>
          <a:solidFill>
            <a:srgbClr val="1A212E"/>
          </a:solidFill>
          <a:ln w="12700">
            <a:solidFill>
              <a:srgbClr val="F0665E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1" descr="/home/claude/deck/icons/problem_feed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253" y="217682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88352" y="21305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Candidates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702552" y="2834640"/>
            <a:ext cx="4617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mock-interview tools don't know what's actually on your resume.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rarely reflect the specific job you're applying for.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give a pass/fail feel with little concrete, actionable feedback.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Vetto turns a resume and a job description into a complete interview.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45613" cy="1965960"/>
          </a:xfrm>
          <a:prstGeom prst="roundRect">
            <a:avLst>
              <a:gd name="adj" fmla="val 798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847126" y="2295144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res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9" y="2366467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916936"/>
            <a:ext cx="1035885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JD</a:t>
            </a:r>
            <a:endParaRPr lang="en-US" sz="1100" dirty="0"/>
          </a:p>
        </p:txBody>
      </p:sp>
      <p:pic>
        <p:nvPicPr>
          <p:cNvPr id="8" name="Image 1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965" y="301294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06317" y="2148840"/>
            <a:ext cx="1145613" cy="1965960"/>
          </a:xfrm>
          <a:prstGeom prst="roundRect">
            <a:avLst>
              <a:gd name="adj" fmla="val 798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6"/>
          <p:cNvSpPr/>
          <p:nvPr/>
        </p:nvSpPr>
        <p:spPr>
          <a:xfrm>
            <a:off x="2504803" y="2295144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2" descr="/home/claude/deck/icons/ai_pr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6126" y="2366467"/>
            <a:ext cx="405994" cy="40599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261181" y="2916936"/>
            <a:ext cx="1035885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pic>
        <p:nvPicPr>
          <p:cNvPr id="13" name="Image 3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641" y="301294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863993" y="2148840"/>
            <a:ext cx="1145613" cy="1965960"/>
          </a:xfrm>
          <a:prstGeom prst="roundRect">
            <a:avLst>
              <a:gd name="adj" fmla="val 798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9"/>
          <p:cNvSpPr/>
          <p:nvPr/>
        </p:nvSpPr>
        <p:spPr>
          <a:xfrm>
            <a:off x="4162479" y="2295144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4" descr="/home/claude/deck/icons/ques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803" y="2366467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918857" y="2916936"/>
            <a:ext cx="1035885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pic>
        <p:nvPicPr>
          <p:cNvPr id="18" name="Image 5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318" y="301294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521670" y="2148840"/>
            <a:ext cx="1145613" cy="1965960"/>
          </a:xfrm>
          <a:prstGeom prst="roundRect">
            <a:avLst>
              <a:gd name="adj" fmla="val 798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2"/>
          <p:cNvSpPr/>
          <p:nvPr/>
        </p:nvSpPr>
        <p:spPr>
          <a:xfrm>
            <a:off x="5820156" y="2295144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6" descr="/home/claude/deck/icons/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1479" y="2366467"/>
            <a:ext cx="405994" cy="40599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576534" y="2916936"/>
            <a:ext cx="1035885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</a:t>
            </a:r>
            <a:endParaRPr lang="en-US" sz="1100" dirty="0"/>
          </a:p>
        </p:txBody>
      </p:sp>
      <p:pic>
        <p:nvPicPr>
          <p:cNvPr id="23" name="Image 7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994" y="301294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179346" y="2148840"/>
            <a:ext cx="1145613" cy="1965960"/>
          </a:xfrm>
          <a:prstGeom prst="roundRect">
            <a:avLst>
              <a:gd name="adj" fmla="val 798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5" name="Shape 15"/>
          <p:cNvSpPr/>
          <p:nvPr/>
        </p:nvSpPr>
        <p:spPr>
          <a:xfrm>
            <a:off x="7477833" y="2295144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6" name="Image 8" descr="/home/claude/deck/icons/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9156" y="2366467"/>
            <a:ext cx="405994" cy="40599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7234210" y="2916936"/>
            <a:ext cx="1035885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+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</a:t>
            </a:r>
            <a:endParaRPr lang="en-US" sz="1100" dirty="0"/>
          </a:p>
        </p:txBody>
      </p:sp>
      <p:pic>
        <p:nvPicPr>
          <p:cNvPr id="28" name="Image 9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671" y="3012948"/>
            <a:ext cx="237744" cy="237744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837023" y="2148840"/>
            <a:ext cx="1145613" cy="1965960"/>
          </a:xfrm>
          <a:prstGeom prst="roundRect">
            <a:avLst>
              <a:gd name="adj" fmla="val 798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0" name="Shape 18"/>
          <p:cNvSpPr/>
          <p:nvPr/>
        </p:nvSpPr>
        <p:spPr>
          <a:xfrm>
            <a:off x="9135509" y="2295144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1" name="Image 10" descr="/home/claude/deck/icons/ev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6832" y="2366467"/>
            <a:ext cx="405994" cy="405994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891887" y="2916936"/>
            <a:ext cx="1035885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pic>
        <p:nvPicPr>
          <p:cNvPr id="33" name="Image 11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4347" y="3012948"/>
            <a:ext cx="237744" cy="237744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10494699" y="2148840"/>
            <a:ext cx="1145613" cy="1965960"/>
          </a:xfrm>
          <a:prstGeom prst="roundRect">
            <a:avLst>
              <a:gd name="adj" fmla="val 798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5" name="Shape 21"/>
          <p:cNvSpPr/>
          <p:nvPr/>
        </p:nvSpPr>
        <p:spPr>
          <a:xfrm>
            <a:off x="10793186" y="2295144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6" name="Image 12" descr="/home/claude/deck/icons/repo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64509" y="2366467"/>
            <a:ext cx="405994" cy="405994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10549563" y="2916936"/>
            <a:ext cx="1035885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100" dirty="0"/>
          </a:p>
        </p:txBody>
      </p:sp>
      <p:sp>
        <p:nvSpPr>
          <p:cNvPr id="38" name="Shape 23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9" name="Text 24"/>
          <p:cNvSpPr txBox="1"/>
          <p:nvPr/>
        </p:nvSpPr>
        <p:spPr>
          <a:xfrm>
            <a:off x="914400" y="4709160"/>
            <a:ext cx="10378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“Vetto turns a resume and a job description into a complete, </a:t>
            </a:r>
            <a:r>
              <a:rPr lang="en-US" sz="1900" b="1" i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career interview.”</a:t>
            </a:r>
            <a:endParaRPr lang="en-US" sz="1900" dirty="0"/>
          </a:p>
        </p:txBody>
      </p:sp>
      <p:sp>
        <p:nvSpPr>
          <p:cNvPr id="40" name="Text 2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41" name="Text 26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start to finish.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30018" cy="3977640"/>
          </a:xfrm>
          <a:prstGeom prst="roundRect">
            <a:avLst>
              <a:gd name="adj" fmla="val 37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1352169" y="2240280"/>
            <a:ext cx="822960" cy="82296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prep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154" y="23472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3291840"/>
            <a:ext cx="21008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Preparation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4023360"/>
            <a:ext cx="199110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and job description are parsed and turned into a tailored question plan.</a:t>
            </a:r>
            <a:endParaRPr lang="en-US" sz="1200" dirty="0"/>
          </a:p>
        </p:txBody>
      </p:sp>
      <p:pic>
        <p:nvPicPr>
          <p:cNvPr id="9" name="Image 1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242" y="37353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35858" y="1874520"/>
            <a:ext cx="2430018" cy="3977640"/>
          </a:xfrm>
          <a:prstGeom prst="roundRect">
            <a:avLst>
              <a:gd name="adj" fmla="val 37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1" name="Shape 7"/>
          <p:cNvSpPr/>
          <p:nvPr/>
        </p:nvSpPr>
        <p:spPr>
          <a:xfrm>
            <a:off x="4239387" y="2240280"/>
            <a:ext cx="822960" cy="82296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2" name="Image 2" descr="/home/claude/deck/icons/review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372" y="2347265"/>
            <a:ext cx="608990" cy="6089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00450" y="3291840"/>
            <a:ext cx="21008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Human Review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3655314" y="4023360"/>
            <a:ext cx="199110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reviewer checks and approves the AI-generated questions.</a:t>
            </a:r>
            <a:endParaRPr lang="en-US" sz="1200" dirty="0"/>
          </a:p>
        </p:txBody>
      </p:sp>
      <p:pic>
        <p:nvPicPr>
          <p:cNvPr id="15" name="Image 3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373532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23076" y="1874520"/>
            <a:ext cx="2430018" cy="3977640"/>
          </a:xfrm>
          <a:prstGeom prst="roundRect">
            <a:avLst>
              <a:gd name="adj" fmla="val 37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7" name="Shape 11"/>
          <p:cNvSpPr/>
          <p:nvPr/>
        </p:nvSpPr>
        <p:spPr>
          <a:xfrm>
            <a:off x="7126605" y="2240280"/>
            <a:ext cx="822960" cy="82296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8" name="Image 4" descr="/home/claude/deck/icons/interview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590" y="2347265"/>
            <a:ext cx="608990" cy="60899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87668" y="3291840"/>
            <a:ext cx="21008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Live Interview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6542532" y="4023360"/>
            <a:ext cx="199110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voice AI conducts the interview and adapts to the candidate's answers.</a:t>
            </a:r>
            <a:endParaRPr lang="en-US" sz="1200" dirty="0"/>
          </a:p>
        </p:txBody>
      </p:sp>
      <p:pic>
        <p:nvPicPr>
          <p:cNvPr id="21" name="Image 5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678" y="3735324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10294" y="1874520"/>
            <a:ext cx="2430018" cy="3977640"/>
          </a:xfrm>
          <a:prstGeom prst="roundRect">
            <a:avLst>
              <a:gd name="adj" fmla="val 37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3" name="Shape 15"/>
          <p:cNvSpPr/>
          <p:nvPr/>
        </p:nvSpPr>
        <p:spPr>
          <a:xfrm>
            <a:off x="10013823" y="2240280"/>
            <a:ext cx="822960" cy="82296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4" name="Image 6" descr="/home/claude/deck/icons/eval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0808" y="2347265"/>
            <a:ext cx="608990" cy="60899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374886" y="3291840"/>
            <a:ext cx="21008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Evaluation &amp; Feedback</a:t>
            </a:r>
            <a:endParaRPr lang="en-US" sz="1550" dirty="0"/>
          </a:p>
        </p:txBody>
      </p:sp>
      <p:sp>
        <p:nvSpPr>
          <p:cNvPr id="26" name="Text 17"/>
          <p:cNvSpPr txBox="1"/>
          <p:nvPr/>
        </p:nvSpPr>
        <p:spPr>
          <a:xfrm>
            <a:off x="9429750" y="4023360"/>
            <a:ext cx="199110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scored and combined into a full performance report.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LangGraph pipeline turns a resume + JD into tailored questions.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879092" cy="1737360"/>
          </a:xfrm>
          <a:prstGeom prst="roundRect">
            <a:avLst>
              <a:gd name="adj" fmla="val 52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1232154" y="2020824"/>
            <a:ext cx="512064" cy="512064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res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722" y="2087392"/>
            <a:ext cx="378927" cy="3789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06040"/>
            <a:ext cx="176936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50" dirty="0"/>
          </a:p>
        </p:txBody>
      </p:sp>
      <p:pic>
        <p:nvPicPr>
          <p:cNvPr id="8" name="Image 1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444" y="262432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39796" y="1874520"/>
            <a:ext cx="1879092" cy="1737360"/>
          </a:xfrm>
          <a:prstGeom prst="roundRect">
            <a:avLst>
              <a:gd name="adj" fmla="val 52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6"/>
          <p:cNvSpPr/>
          <p:nvPr/>
        </p:nvSpPr>
        <p:spPr>
          <a:xfrm>
            <a:off x="3623310" y="2020824"/>
            <a:ext cx="512064" cy="512064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2" descr="/home/claude/deck/icons/j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878" y="2087392"/>
            <a:ext cx="378927" cy="3789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994660" y="2606040"/>
            <a:ext cx="176936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50" dirty="0"/>
          </a:p>
        </p:txBody>
      </p:sp>
      <p:pic>
        <p:nvPicPr>
          <p:cNvPr id="13" name="Image 3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62432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30952" y="1874520"/>
            <a:ext cx="1879092" cy="1737360"/>
          </a:xfrm>
          <a:prstGeom prst="roundRect">
            <a:avLst>
              <a:gd name="adj" fmla="val 52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9"/>
          <p:cNvSpPr/>
          <p:nvPr/>
        </p:nvSpPr>
        <p:spPr>
          <a:xfrm>
            <a:off x="6014466" y="2020824"/>
            <a:ext cx="512064" cy="512064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4" descr="/home/claude/deck/icons/g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1034" y="2087392"/>
            <a:ext cx="378927" cy="37892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385816" y="2606040"/>
            <a:ext cx="176936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150" dirty="0"/>
          </a:p>
        </p:txBody>
      </p:sp>
      <p:pic>
        <p:nvPicPr>
          <p:cNvPr id="18" name="Image 5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756" y="262432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722108" y="1874520"/>
            <a:ext cx="1879092" cy="1737360"/>
          </a:xfrm>
          <a:prstGeom prst="roundRect">
            <a:avLst>
              <a:gd name="adj" fmla="val 52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2"/>
          <p:cNvSpPr/>
          <p:nvPr/>
        </p:nvSpPr>
        <p:spPr>
          <a:xfrm>
            <a:off x="8405622" y="2020824"/>
            <a:ext cx="512064" cy="512064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6" descr="/home/claude/deck/icons/ques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2190" y="2087392"/>
            <a:ext cx="378927" cy="378927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776972" y="2606040"/>
            <a:ext cx="176936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50" dirty="0"/>
          </a:p>
        </p:txBody>
      </p:sp>
      <p:sp>
        <p:nvSpPr>
          <p:cNvPr id="23" name="Shape 14"/>
          <p:cNvSpPr/>
          <p:nvPr/>
        </p:nvSpPr>
        <p:spPr>
          <a:xfrm>
            <a:off x="9829800" y="1874520"/>
            <a:ext cx="1810512" cy="1737360"/>
          </a:xfrm>
          <a:prstGeom prst="roundRect">
            <a:avLst>
              <a:gd name="adj" fmla="val 526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24" name="Text 15"/>
          <p:cNvSpPr txBox="1"/>
          <p:nvPr/>
        </p:nvSpPr>
        <p:spPr>
          <a:xfrm>
            <a:off x="9902952" y="201168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11–12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548640" y="388620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6" name="Text 17"/>
          <p:cNvSpPr txBox="1"/>
          <p:nvPr/>
        </p:nvSpPr>
        <p:spPr>
          <a:xfrm>
            <a:off x="914400" y="4114800"/>
            <a:ext cx="10378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candidate's resume PDF is converted into structured data — skills, experience, projects, education.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description is structured the same way — requirements, competencies, seniority.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Analyzer compares the two and flags skills to probe harder on during the interview.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Planner generates questions that reference the candidate's actual resume facts and the JD — technical roles automatically receive 2 coding questions.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548640" y="61081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A212E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28" name="Text 19"/>
          <p:cNvSpPr txBox="1"/>
          <p:nvPr/>
        </p:nvSpPr>
        <p:spPr>
          <a:xfrm>
            <a:off x="548640" y="61081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2057400" y="6108192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A212E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30" name="Text 21"/>
          <p:cNvSpPr txBox="1"/>
          <p:nvPr/>
        </p:nvSpPr>
        <p:spPr>
          <a:xfrm>
            <a:off x="2057400" y="6108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– gemini-3.5-flash-lite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HUMAN REVIEW (OPTIONAL)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stays in control before any question is asked live.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88870" cy="1737360"/>
          </a:xfrm>
          <a:prstGeom prst="roundRect">
            <a:avLst>
              <a:gd name="adj" fmla="val 52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1487043" y="2020824"/>
            <a:ext cx="512064" cy="512064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611" y="2087392"/>
            <a:ext cx="378927" cy="3789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06040"/>
            <a:ext cx="227914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50" dirty="0"/>
          </a:p>
        </p:txBody>
      </p:sp>
      <p:pic>
        <p:nvPicPr>
          <p:cNvPr id="8" name="Image 1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222" y="262432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49574" y="1874520"/>
            <a:ext cx="2388870" cy="1737360"/>
          </a:xfrm>
          <a:prstGeom prst="roundRect">
            <a:avLst>
              <a:gd name="adj" fmla="val 52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6"/>
          <p:cNvSpPr/>
          <p:nvPr/>
        </p:nvSpPr>
        <p:spPr>
          <a:xfrm>
            <a:off x="4387977" y="2020824"/>
            <a:ext cx="512064" cy="512064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2" descr="/home/claude/deck/icons/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545" y="2087392"/>
            <a:ext cx="378927" cy="3789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4438" y="2606040"/>
            <a:ext cx="227914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Edit</a:t>
            </a:r>
            <a:endParaRPr lang="en-US" sz="1150" dirty="0"/>
          </a:p>
        </p:txBody>
      </p:sp>
      <p:pic>
        <p:nvPicPr>
          <p:cNvPr id="13" name="Image 3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262432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50508" y="1874520"/>
            <a:ext cx="2388870" cy="1737360"/>
          </a:xfrm>
          <a:prstGeom prst="roundRect">
            <a:avLst>
              <a:gd name="adj" fmla="val 52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9"/>
          <p:cNvSpPr/>
          <p:nvPr/>
        </p:nvSpPr>
        <p:spPr>
          <a:xfrm>
            <a:off x="7288911" y="2020824"/>
            <a:ext cx="512064" cy="512064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4" descr="/home/claude/deck/icons/appro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5479" y="2087392"/>
            <a:ext cx="378927" cy="37892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05372" y="2606040"/>
            <a:ext cx="227914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Plan</a:t>
            </a:r>
            <a:endParaRPr lang="en-US" sz="1150" dirty="0"/>
          </a:p>
        </p:txBody>
      </p:sp>
      <p:pic>
        <p:nvPicPr>
          <p:cNvPr id="18" name="Image 5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090" y="262432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251442" y="1874520"/>
            <a:ext cx="2388870" cy="1737360"/>
          </a:xfrm>
          <a:prstGeom prst="roundRect">
            <a:avLst>
              <a:gd name="adj" fmla="val 5263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2"/>
          <p:cNvSpPr/>
          <p:nvPr/>
        </p:nvSpPr>
        <p:spPr>
          <a:xfrm>
            <a:off x="10189845" y="2020824"/>
            <a:ext cx="512064" cy="512064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6" descr="/home/claude/deck/icons/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6413" y="2087392"/>
            <a:ext cx="378927" cy="378927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306306" y="2606040"/>
            <a:ext cx="227914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150" dirty="0"/>
          </a:p>
        </p:txBody>
      </p:sp>
      <p:sp>
        <p:nvSpPr>
          <p:cNvPr id="23" name="Shape 14"/>
          <p:cNvSpPr/>
          <p:nvPr/>
        </p:nvSpPr>
        <p:spPr>
          <a:xfrm>
            <a:off x="548640" y="388620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4" name="Text 15"/>
          <p:cNvSpPr txBox="1"/>
          <p:nvPr/>
        </p:nvSpPr>
        <p:spPr>
          <a:xfrm>
            <a:off x="91440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914400" y="4480560"/>
            <a:ext cx="10378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human in control of AI-generated interview content before it's ever asked out loud.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reviewer correct, remove, or rewrite questions before the live interview begins.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system more trustworthy for real interview workflows, not just a fully autonomous black box.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548640" y="6108192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1A212E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27" name="Text 18"/>
          <p:cNvSpPr txBox="1"/>
          <p:nvPr/>
        </p:nvSpPr>
        <p:spPr>
          <a:xfrm>
            <a:off x="548640" y="61081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stage — not required to run an interview</a:t>
            </a:r>
            <a:endParaRPr lang="en-US" sz="1050" dirty="0"/>
          </a:p>
        </p:txBody>
      </p:sp>
      <p:sp>
        <p:nvSpPr>
          <p:cNvPr id="28" name="Text 1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HERO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 real-time, two-way voice conversation.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88870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1487043" y="1975104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611" y="2041672"/>
            <a:ext cx="378927" cy="3789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560320"/>
            <a:ext cx="2279142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pic>
        <p:nvPicPr>
          <p:cNvPr id="8" name="Image 1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222" y="255574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49574" y="1828800"/>
            <a:ext cx="2388870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6"/>
          <p:cNvSpPr/>
          <p:nvPr/>
        </p:nvSpPr>
        <p:spPr>
          <a:xfrm>
            <a:off x="4387977" y="1975104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2" descr="/home/claude/deck/icons/livek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545" y="2041672"/>
            <a:ext cx="378927" cy="3789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4438" y="2560320"/>
            <a:ext cx="2279142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pic>
        <p:nvPicPr>
          <p:cNvPr id="13" name="Image 3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255574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50508" y="1828800"/>
            <a:ext cx="2388870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9"/>
          <p:cNvSpPr/>
          <p:nvPr/>
        </p:nvSpPr>
        <p:spPr>
          <a:xfrm>
            <a:off x="7288911" y="1975104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4" descr="/home/claude/deck/icons/back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5479" y="2041672"/>
            <a:ext cx="378927" cy="37892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05372" y="2560320"/>
            <a:ext cx="2279142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Worker</a:t>
            </a:r>
            <a:endParaRPr lang="en-US" sz="1100" dirty="0"/>
          </a:p>
        </p:txBody>
      </p:sp>
      <p:pic>
        <p:nvPicPr>
          <p:cNvPr id="18" name="Image 5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090" y="255574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251442" y="1828800"/>
            <a:ext cx="2388870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2"/>
          <p:cNvSpPr/>
          <p:nvPr/>
        </p:nvSpPr>
        <p:spPr>
          <a:xfrm>
            <a:off x="10189845" y="1975104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6" descr="/home/claude/deck/icons/realti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6413" y="2041672"/>
            <a:ext cx="378927" cy="378927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306306" y="2560320"/>
            <a:ext cx="2279142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RealtimeModel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54864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4" name="Shape 15"/>
          <p:cNvSpPr/>
          <p:nvPr/>
        </p:nvSpPr>
        <p:spPr>
          <a:xfrm>
            <a:off x="804672" y="4050792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5" name="Image 7" descr="/home/claude/deck/icons/barge_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240" y="4117360"/>
            <a:ext cx="378927" cy="378927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04672" y="466344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interruption</a:t>
            </a:r>
            <a:endParaRPr lang="en-US" sz="1350" dirty="0"/>
          </a:p>
        </p:txBody>
      </p:sp>
      <p:sp>
        <p:nvSpPr>
          <p:cNvPr id="27" name="Text 17"/>
          <p:cNvSpPr txBox="1"/>
          <p:nvPr/>
        </p:nvSpPr>
        <p:spPr>
          <a:xfrm>
            <a:off x="804672" y="507492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voice-activity detection lets the candidate barge in mid-question, just like a real interview.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4315968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9" name="Shape 19"/>
          <p:cNvSpPr/>
          <p:nvPr/>
        </p:nvSpPr>
        <p:spPr>
          <a:xfrm>
            <a:off x="4572000" y="4050792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0" name="Image 8" descr="/home/claude/deck/icons/g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568" y="4117360"/>
            <a:ext cx="378927" cy="378927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4572000" y="466344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Resume-grounded</a:t>
            </a:r>
            <a:endParaRPr lang="en-US" sz="1350" dirty="0"/>
          </a:p>
        </p:txBody>
      </p:sp>
      <p:sp>
        <p:nvSpPr>
          <p:cNvPr id="32" name="Text 21"/>
          <p:cNvSpPr txBox="1"/>
          <p:nvPr/>
        </p:nvSpPr>
        <p:spPr>
          <a:xfrm>
            <a:off x="4572000" y="507492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candidate's name, skills, projects, and identified gaps are injected directly into the interviewer's system prompt.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8083296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4" name="Shape 23"/>
          <p:cNvSpPr/>
          <p:nvPr/>
        </p:nvSpPr>
        <p:spPr>
          <a:xfrm>
            <a:off x="8339328" y="4050792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5" name="Image 9" descr="/home/claude/deck/icons/followu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5896" y="4117360"/>
            <a:ext cx="378927" cy="378927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339328" y="466344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Prompt-engineered adaptivity</a:t>
            </a:r>
            <a:endParaRPr lang="en-US" sz="1350" dirty="0"/>
          </a:p>
        </p:txBody>
      </p:sp>
      <p:sp>
        <p:nvSpPr>
          <p:cNvPr id="37" name="Text 25"/>
          <p:cNvSpPr txBox="1"/>
          <p:nvPr/>
        </p:nvSpPr>
        <p:spPr>
          <a:xfrm>
            <a:off x="8339328" y="507492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Acknowledge-then-transition, one clarifying follow-up on weak answers, deeper probing on gap areas — all driven by the live system prompt.</a:t>
            </a:r>
            <a:endParaRPr lang="en-US" sz="1100" dirty="0"/>
          </a:p>
        </p:txBody>
      </p:sp>
      <p:sp>
        <p:nvSpPr>
          <p:cNvPr id="38" name="Text 26"/>
          <p:cNvSpPr txBox="1"/>
          <p:nvPr/>
        </p:nvSpPr>
        <p:spPr>
          <a:xfrm>
            <a:off x="548640" y="610819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turn-based STT → LLM → TTS chatbot loop — one realtime model handles speech in and speech out.</a:t>
            </a:r>
            <a:endParaRPr lang="en-US" sz="1150" dirty="0"/>
          </a:p>
        </p:txBody>
      </p:sp>
      <p:sp>
        <p:nvSpPr>
          <p:cNvPr id="39" name="Text 27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adapts to the candidate.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749808" y="2057400"/>
            <a:ext cx="457200" cy="457200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res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21168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5024" y="2057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Resume-aware questioning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651760"/>
            <a:ext cx="31912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reference real projects, skills, and experience from the parsed resume.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9392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7"/>
          <p:cNvSpPr/>
          <p:nvPr/>
        </p:nvSpPr>
        <p:spPr>
          <a:xfrm>
            <a:off x="4480560" y="2057400"/>
            <a:ext cx="457200" cy="457200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1" descr="/home/claude/deck/icons/j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21168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65776" y="2057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JD-aware questioning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51760"/>
            <a:ext cx="31912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generated against the specific job description's requirements.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11"/>
          <p:cNvSpPr/>
          <p:nvPr/>
        </p:nvSpPr>
        <p:spPr>
          <a:xfrm>
            <a:off x="8211312" y="2057400"/>
            <a:ext cx="457200" cy="457200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2" descr="/home/claude/deck/icons/g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748" y="21168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96528" y="2057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targeting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211312" y="2651760"/>
            <a:ext cx="31912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resume/JD gaps are probed harder during the live conversation.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5"/>
          <p:cNvSpPr/>
          <p:nvPr/>
        </p:nvSpPr>
        <p:spPr>
          <a:xfrm>
            <a:off x="749808" y="4160520"/>
            <a:ext cx="457200" cy="457200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3" descr="/home/claude/deck/icons/follow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421995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35024" y="416052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follow-ups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754880"/>
            <a:ext cx="31912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follow-up question on vague or short answers, then the interview moves 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79392" y="397764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5" name="Shape 19"/>
          <p:cNvSpPr/>
          <p:nvPr/>
        </p:nvSpPr>
        <p:spPr>
          <a:xfrm>
            <a:off x="4480560" y="4160520"/>
            <a:ext cx="457200" cy="457200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6" name="Image 4" descr="/home/claude/deck/icons/langu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9996" y="421995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65776" y="416052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interviews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4754880"/>
            <a:ext cx="31912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Urdu, or a natural Urdu-English mix — selectable before the interview starts.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397764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1A212E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0" name="Shape 23"/>
          <p:cNvSpPr/>
          <p:nvPr/>
        </p:nvSpPr>
        <p:spPr>
          <a:xfrm>
            <a:off x="8211312" y="4160520"/>
            <a:ext cx="457200" cy="457200"/>
          </a:xfrm>
          <a:prstGeom prst="ellipse">
            <a:avLst/>
          </a:prstGeom>
          <a:solidFill>
            <a:srgbClr val="0B0E1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1" name="Image 5" descr="/home/claude/deck/icons/person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0748" y="421995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796528" y="416052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customization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211312" y="4754880"/>
            <a:ext cx="31912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— integration issue identified.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TECHNICAL ROLES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code, executed in the browser — no server required.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1206094" y="1975104"/>
            <a:ext cx="493776" cy="493776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84" y="2039295"/>
            <a:ext cx="365394" cy="365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542032"/>
            <a:ext cx="16989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pic>
        <p:nvPicPr>
          <p:cNvPr id="8" name="Image 1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035" y="255574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69387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6"/>
          <p:cNvSpPr/>
          <p:nvPr/>
        </p:nvSpPr>
        <p:spPr>
          <a:xfrm>
            <a:off x="3526841" y="1975104"/>
            <a:ext cx="493776" cy="493776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2" descr="/home/claude/deck/icons/mona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1032" y="2039295"/>
            <a:ext cx="365394" cy="36539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924251" y="2542032"/>
            <a:ext cx="16989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050" dirty="0"/>
          </a:p>
        </p:txBody>
      </p:sp>
      <p:pic>
        <p:nvPicPr>
          <p:cNvPr id="13" name="Image 3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782" y="255574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190134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9"/>
          <p:cNvSpPr/>
          <p:nvPr/>
        </p:nvSpPr>
        <p:spPr>
          <a:xfrm>
            <a:off x="5847588" y="1975104"/>
            <a:ext cx="493776" cy="493776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4" descr="/home/claude/deck/icons/r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779" y="2039295"/>
            <a:ext cx="365394" cy="36539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44998" y="2542032"/>
            <a:ext cx="16989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pic>
        <p:nvPicPr>
          <p:cNvPr id="18" name="Image 5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530" y="255574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510882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2"/>
          <p:cNvSpPr/>
          <p:nvPr/>
        </p:nvSpPr>
        <p:spPr>
          <a:xfrm>
            <a:off x="8168335" y="1975104"/>
            <a:ext cx="493776" cy="493776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6" descr="/home/claude/deck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2526" y="2039295"/>
            <a:ext cx="365394" cy="36539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565746" y="2542032"/>
            <a:ext cx="16989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50" dirty="0"/>
          </a:p>
        </p:txBody>
      </p:sp>
      <p:pic>
        <p:nvPicPr>
          <p:cNvPr id="23" name="Image 7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277" y="255574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831629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5" name="Shape 15"/>
          <p:cNvSpPr/>
          <p:nvPr/>
        </p:nvSpPr>
        <p:spPr>
          <a:xfrm>
            <a:off x="10489082" y="1975104"/>
            <a:ext cx="493776" cy="493776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6" name="Image 8" descr="/home/claude/deck/icons/ev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3273" y="2039295"/>
            <a:ext cx="365394" cy="36539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9886493" y="2542032"/>
            <a:ext cx="16989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Code</a:t>
            </a:r>
            <a:endParaRPr lang="en-US" sz="10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8" name="Shape 17"/>
          <p:cNvSpPr/>
          <p:nvPr/>
        </p:nvSpPr>
        <p:spPr>
          <a:xfrm>
            <a:off x="548640" y="36576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9" name="Shape 18"/>
          <p:cNvSpPr/>
          <p:nvPr/>
        </p:nvSpPr>
        <p:spPr>
          <a:xfrm>
            <a:off x="841248" y="3931920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0" name="Image 9" descr="/home/claude/deck/icons/pyth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816" y="3998488"/>
            <a:ext cx="378927" cy="378927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1508760" y="39502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Pyodide</a:t>
            </a:r>
            <a:endParaRPr lang="en-US" sz="1450" dirty="0"/>
          </a:p>
        </p:txBody>
      </p:sp>
      <p:sp>
        <p:nvSpPr>
          <p:cNvPr id="32" name="Text 20"/>
          <p:cNvSpPr txBox="1"/>
          <p:nvPr/>
        </p:nvSpPr>
        <p:spPr>
          <a:xfrm>
            <a:off x="841248" y="45720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real CPython, compiled to WebAssembly, loaded from a CDN.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genuine stdout / stderr from the candidate's own code.</a:t>
            </a:r>
            <a:endParaRPr lang="en-US" sz="1150" dirty="0"/>
          </a:p>
        </p:txBody>
      </p:sp>
      <p:sp>
        <p:nvSpPr>
          <p:cNvPr id="33" name="Shape 21"/>
          <p:cNvSpPr/>
          <p:nvPr/>
        </p:nvSpPr>
        <p:spPr>
          <a:xfrm>
            <a:off x="6245352" y="36576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4" name="Shape 22"/>
          <p:cNvSpPr/>
          <p:nvPr/>
        </p:nvSpPr>
        <p:spPr>
          <a:xfrm>
            <a:off x="6537960" y="3931920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5" name="Image 10" descr="/home/claude/deck/icons/j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4528" y="3998488"/>
            <a:ext cx="378927" cy="378927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7205472" y="39502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/ TS → Sandboxed iframe</a:t>
            </a:r>
            <a:endParaRPr lang="en-US" sz="1450" dirty="0"/>
          </a:p>
        </p:txBody>
      </p:sp>
      <p:sp>
        <p:nvSpPr>
          <p:cNvPr id="37" name="Text 24"/>
          <p:cNvSpPr txBox="1"/>
          <p:nvPr/>
        </p:nvSpPr>
        <p:spPr>
          <a:xfrm>
            <a:off x="6537960" y="45720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an iframe with sandbox="allow-scripts" — no network, no same-origin access.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languages fall back to static review; execution isn't penalized when unavailable.</a:t>
            </a:r>
            <a:endParaRPr lang="en-US" sz="1150" dirty="0"/>
          </a:p>
        </p:txBody>
      </p:sp>
      <p:sp>
        <p:nvSpPr>
          <p:cNvPr id="38" name="Shape 25"/>
          <p:cNvSpPr/>
          <p:nvPr/>
        </p:nvSpPr>
        <p:spPr>
          <a:xfrm>
            <a:off x="548640" y="6108192"/>
            <a:ext cx="4846320" cy="292608"/>
          </a:xfrm>
          <a:prstGeom prst="roundRect">
            <a:avLst>
              <a:gd name="adj" fmla="val 50000"/>
            </a:avLst>
          </a:prstGeom>
          <a:solidFill>
            <a:srgbClr val="1A212E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39" name="Text 26"/>
          <p:cNvSpPr txBox="1"/>
          <p:nvPr/>
        </p:nvSpPr>
        <p:spPr>
          <a:xfrm>
            <a:off x="548640" y="61081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execution required for supported runtimes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5623560" y="6071616"/>
            <a:ext cx="365760" cy="36576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41" name="Image 11" descr="/home/claude/deck/icons/lo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1109" y="6119165"/>
            <a:ext cx="270662" cy="270662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43" name="Text 2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Structured, evidence-based scoring — not a single “give a score” prompt.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1215238" y="2080260"/>
            <a:ext cx="475488" cy="475488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tran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051" y="2142073"/>
            <a:ext cx="351861" cy="3518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6552" y="2802636"/>
            <a:ext cx="1698955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000" dirty="0"/>
          </a:p>
        </p:txBody>
      </p:sp>
      <p:pic>
        <p:nvPicPr>
          <p:cNvPr id="8" name="Image 1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035" y="255574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69387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6"/>
          <p:cNvSpPr/>
          <p:nvPr/>
        </p:nvSpPr>
        <p:spPr>
          <a:xfrm>
            <a:off x="3535985" y="2080260"/>
            <a:ext cx="475488" cy="475488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2" descr="/home/claude/deck/icons/extr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798" y="2178276"/>
            <a:ext cx="351861" cy="35186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951179" y="2807208"/>
            <a:ext cx="169895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000" dirty="0"/>
          </a:p>
        </p:txBody>
      </p:sp>
      <p:pic>
        <p:nvPicPr>
          <p:cNvPr id="13" name="Image 3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782" y="255574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190134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9"/>
          <p:cNvSpPr/>
          <p:nvPr/>
        </p:nvSpPr>
        <p:spPr>
          <a:xfrm>
            <a:off x="5856732" y="2080259"/>
            <a:ext cx="475488" cy="475488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4" descr="/home/claude/deck/icons/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8545" y="2153968"/>
            <a:ext cx="351861" cy="35186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31282" y="2807208"/>
            <a:ext cx="1698955" cy="628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Evaluator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STAR Analysis</a:t>
            </a:r>
            <a:endParaRPr lang="en-US" sz="1000" dirty="0"/>
          </a:p>
        </p:txBody>
      </p:sp>
      <p:pic>
        <p:nvPicPr>
          <p:cNvPr id="18" name="Image 5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530" y="255574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510882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2"/>
          <p:cNvSpPr/>
          <p:nvPr/>
        </p:nvSpPr>
        <p:spPr>
          <a:xfrm>
            <a:off x="8177479" y="2079091"/>
            <a:ext cx="475488" cy="475488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6" descr="/home/claude/deck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293" y="2138338"/>
            <a:ext cx="351861" cy="351861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565746" y="2807208"/>
            <a:ext cx="1698955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000" dirty="0"/>
          </a:p>
        </p:txBody>
      </p:sp>
      <p:pic>
        <p:nvPicPr>
          <p:cNvPr id="23" name="Image 7" descr="/home/claude/deck/icons/chevro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277" y="255574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831629" y="1828800"/>
            <a:ext cx="1808683" cy="1691640"/>
          </a:xfrm>
          <a:prstGeom prst="roundRect">
            <a:avLst>
              <a:gd name="adj" fmla="val 5405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5" name="Shape 15"/>
          <p:cNvSpPr/>
          <p:nvPr/>
        </p:nvSpPr>
        <p:spPr>
          <a:xfrm>
            <a:off x="10498226" y="2076525"/>
            <a:ext cx="475488" cy="475488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6" name="Image 8" descr="/home/claude/deck/icons/fin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0040" y="2142073"/>
            <a:ext cx="351861" cy="351861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9886493" y="2807208"/>
            <a:ext cx="1698955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000" dirty="0"/>
          </a:p>
        </p:txBody>
      </p:sp>
      <p:sp>
        <p:nvSpPr>
          <p:cNvPr id="28" name="Shape 17"/>
          <p:cNvSpPr/>
          <p:nvPr/>
        </p:nvSpPr>
        <p:spPr>
          <a:xfrm>
            <a:off x="548640" y="3794760"/>
            <a:ext cx="11091672" cy="2568718"/>
          </a:xfrm>
          <a:prstGeom prst="roundRect">
            <a:avLst>
              <a:gd name="adj" fmla="val 3774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9" name="Text 18"/>
          <p:cNvSpPr txBox="1"/>
          <p:nvPr/>
        </p:nvSpPr>
        <p:spPr>
          <a:xfrm>
            <a:off x="91440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dimensions</a:t>
            </a:r>
            <a:endParaRPr lang="en-US" sz="1500" dirty="0"/>
          </a:p>
        </p:txBody>
      </p:sp>
      <p:sp>
        <p:nvSpPr>
          <p:cNvPr id="30" name="Shape 19"/>
          <p:cNvSpPr/>
          <p:nvPr/>
        </p:nvSpPr>
        <p:spPr>
          <a:xfrm>
            <a:off x="914400" y="4480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1" name="Text 20"/>
          <p:cNvSpPr txBox="1"/>
          <p:nvPr/>
        </p:nvSpPr>
        <p:spPr>
          <a:xfrm>
            <a:off x="914400" y="4480560"/>
            <a:ext cx="3291840" cy="777240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50" dirty="0"/>
          </a:p>
        </p:txBody>
      </p:sp>
      <p:sp>
        <p:nvSpPr>
          <p:cNvPr id="32" name="Shape 21"/>
          <p:cNvSpPr/>
          <p:nvPr/>
        </p:nvSpPr>
        <p:spPr>
          <a:xfrm>
            <a:off x="4434840" y="4480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3" name="Text 22"/>
          <p:cNvSpPr txBox="1"/>
          <p:nvPr/>
        </p:nvSpPr>
        <p:spPr>
          <a:xfrm>
            <a:off x="4434840" y="4480560"/>
            <a:ext cx="3291840" cy="777240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quality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7955280" y="4480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5" name="Text 24"/>
          <p:cNvSpPr txBox="1"/>
          <p:nvPr/>
        </p:nvSpPr>
        <p:spPr>
          <a:xfrm>
            <a:off x="7955280" y="4480560"/>
            <a:ext cx="3291840" cy="777240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36" name="Shape 25"/>
          <p:cNvSpPr/>
          <p:nvPr/>
        </p:nvSpPr>
        <p:spPr>
          <a:xfrm>
            <a:off x="914400" y="53949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7" name="Text 26"/>
          <p:cNvSpPr txBox="1"/>
          <p:nvPr/>
        </p:nvSpPr>
        <p:spPr>
          <a:xfrm>
            <a:off x="914400" y="5394960"/>
            <a:ext cx="3291840" cy="777240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structure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4434840" y="53949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9" name="Text 28"/>
          <p:cNvSpPr txBox="1"/>
          <p:nvPr/>
        </p:nvSpPr>
        <p:spPr>
          <a:xfrm>
            <a:off x="4434840" y="5394960"/>
            <a:ext cx="3291840" cy="777240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alignment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7955280" y="53949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41" name="Text 30"/>
          <p:cNvSpPr txBox="1"/>
          <p:nvPr/>
        </p:nvSpPr>
        <p:spPr>
          <a:xfrm>
            <a:off x="7955280" y="5394960"/>
            <a:ext cx="3291840" cy="777240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performance</a:t>
            </a:r>
            <a:endParaRPr lang="en-US" sz="1250" dirty="0"/>
          </a:p>
        </p:txBody>
      </p:sp>
      <p:sp>
        <p:nvSpPr>
          <p:cNvPr id="42" name="Text 31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proctoring and speech analytics, running live.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21744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488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Proctoring (MediaPipe)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face detection running live on the candidate's webcam feed.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no face detected, multiple faces detected, tab-switch / window-focus changes.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3-strike escalation — repeated violations flag the interview for review.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82512" y="18288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7"/>
          <p:cNvSpPr/>
          <p:nvPr/>
        </p:nvSpPr>
        <p:spPr>
          <a:xfrm>
            <a:off x="6702552" y="2103120"/>
            <a:ext cx="548640" cy="54864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1" descr="/home/claude/deck/icons/w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217444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34072" y="21488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&amp; Engagement Analytics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702552" y="288036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Words-per-minute and filler-word counts computed from the interview transcript.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eye-contact style metric derived from face-presence during the interview.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702552" y="4343400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1A21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434340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Eye-contact score is a face-presence ratio proxy — not true gaze tracking.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evaluation, delivered two ways.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4160520"/>
          </a:xfrm>
          <a:prstGeom prst="roundRect">
            <a:avLst>
              <a:gd name="adj" fmla="val 2198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Analysis includes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performance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alignment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251460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plan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Per-answer evaluation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828800"/>
            <a:ext cx="4187952" cy="1965960"/>
          </a:xfrm>
          <a:prstGeom prst="roundRect">
            <a:avLst>
              <a:gd name="adj" fmla="val 4651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9" name="Shape 7"/>
          <p:cNvSpPr/>
          <p:nvPr/>
        </p:nvSpPr>
        <p:spPr>
          <a:xfrm>
            <a:off x="7726680" y="2084832"/>
            <a:ext cx="502920" cy="502920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0" name="Image 0" descr="/home/claude/deck/icons/mar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060" y="2150212"/>
            <a:ext cx="372161" cy="37216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66760" y="21214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Report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697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interview report, viewable in the reviewer tool.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52360" y="4023360"/>
            <a:ext cx="4187952" cy="1965960"/>
          </a:xfrm>
          <a:prstGeom prst="roundRect">
            <a:avLst>
              <a:gd name="adj" fmla="val 4651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4" name="Shape 11"/>
          <p:cNvSpPr/>
          <p:nvPr/>
        </p:nvSpPr>
        <p:spPr>
          <a:xfrm>
            <a:off x="7726680" y="4279392"/>
            <a:ext cx="502920" cy="502920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5" name="Image 1" descr="/home/claude/deck/icons/p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060" y="4344772"/>
            <a:ext cx="372161" cy="37216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366760" y="43159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 Report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726680" y="4892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score summary + question-by-question breakdown.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INTERVIEW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coaching &amp; progress layer.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804672" y="2084832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" y="2151400"/>
            <a:ext cx="378927" cy="3789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48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scores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160520" y="21031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2103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69748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interview is saved with its full score breakdown.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45352" y="1828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2" name="Shape 9"/>
          <p:cNvSpPr/>
          <p:nvPr/>
        </p:nvSpPr>
        <p:spPr>
          <a:xfrm>
            <a:off x="6501384" y="2084832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3" name="Image 1" descr="/home/claude/deck/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952" y="2151400"/>
            <a:ext cx="378927" cy="3789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59752" y="2048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9857232" y="21031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6" name="Text 12"/>
          <p:cNvSpPr txBox="1"/>
          <p:nvPr/>
        </p:nvSpPr>
        <p:spPr>
          <a:xfrm>
            <a:off x="9857232" y="2103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501384" y="269748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 table shows score and speaking-pace history across sessions.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023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9" name="Shape 15"/>
          <p:cNvSpPr/>
          <p:nvPr/>
        </p:nvSpPr>
        <p:spPr>
          <a:xfrm>
            <a:off x="804672" y="4279392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0" name="Image 2" descr="/home/claude/deck/icons/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40" y="4345960"/>
            <a:ext cx="378927" cy="37892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63040" y="42428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Post-interview coach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4160520" y="429768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3" name="Text 18"/>
          <p:cNvSpPr txBox="1"/>
          <p:nvPr/>
        </p:nvSpPr>
        <p:spPr>
          <a:xfrm>
            <a:off x="4160520" y="4297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ISSUE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804672" y="489204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about your scores using rule-based keyword matching, not a Gemini call.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45352" y="4023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6" name="Shape 21"/>
          <p:cNvSpPr/>
          <p:nvPr/>
        </p:nvSpPr>
        <p:spPr>
          <a:xfrm>
            <a:off x="6501384" y="4279392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7" name="Image 3" descr="/home/claude/deck/icons/n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952" y="4345960"/>
            <a:ext cx="378927" cy="37892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59752" y="42428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Next-session focus planning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9857232" y="429768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0" name="Text 24"/>
          <p:cNvSpPr txBox="1"/>
          <p:nvPr/>
        </p:nvSpPr>
        <p:spPr>
          <a:xfrm>
            <a:off x="9857232" y="4297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ISSUE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6501384" y="489204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exists to suggest focus areas for next time, but it isn't currently called from the frontend.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technology layers, four independent processes.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420624" cy="42062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ai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3" y="2048073"/>
            <a:ext cx="311262" cy="311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487168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Intelligence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78892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Google RealtimeModel · LangGraph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82880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7"/>
          <p:cNvSpPr/>
          <p:nvPr/>
        </p:nvSpPr>
        <p:spPr>
          <a:xfrm>
            <a:off x="3502152" y="1993392"/>
            <a:ext cx="420624" cy="42062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1" descr="/home/claude/deck/icons/back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833" y="2048073"/>
            <a:ext cx="311262" cy="3112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487168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02152" y="278892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Pydantic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11"/>
          <p:cNvSpPr/>
          <p:nvPr/>
        </p:nvSpPr>
        <p:spPr>
          <a:xfrm>
            <a:off x="6291072" y="1993392"/>
            <a:ext cx="420624" cy="42062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2" descr="/home/claude/deck/icons/real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753" y="2048073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91072" y="2487168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91072" y="278892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Agents · LiveKit Cloud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15400" y="182880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5"/>
          <p:cNvSpPr/>
          <p:nvPr/>
        </p:nvSpPr>
        <p:spPr>
          <a:xfrm>
            <a:off x="9079992" y="1993392"/>
            <a:ext cx="420624" cy="42062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3" descr="/home/claude/deck/icons/front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4673" y="2048073"/>
            <a:ext cx="311262" cy="3112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79992" y="2487168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079992" y="278892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TypeScript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392424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5" name="Shape 19"/>
          <p:cNvSpPr/>
          <p:nvPr/>
        </p:nvSpPr>
        <p:spPr>
          <a:xfrm>
            <a:off x="713232" y="3557016"/>
            <a:ext cx="420624" cy="42062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6" name="Image 4" descr="/home/claude/deck/icons/coding_te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913" y="3611697"/>
            <a:ext cx="311262" cy="31126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3232" y="40507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Coding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713232" y="4352544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 · Pyodide · Sandboxed iframe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37560" y="3392424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0" name="Shape 23"/>
          <p:cNvSpPr/>
          <p:nvPr/>
        </p:nvSpPr>
        <p:spPr>
          <a:xfrm>
            <a:off x="3502152" y="3557016"/>
            <a:ext cx="420624" cy="42062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1" name="Image 5" descr="/home/claude/deck/icons/vis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6833" y="3611697"/>
            <a:ext cx="311262" cy="31126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02152" y="40507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3502152" y="4352544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(face detection)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126480" y="3392424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5" name="Shape 27"/>
          <p:cNvSpPr/>
          <p:nvPr/>
        </p:nvSpPr>
        <p:spPr>
          <a:xfrm>
            <a:off x="6291072" y="3557016"/>
            <a:ext cx="420624" cy="42062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6" name="Image 6" descr="/home/claude/deck/icons/stor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753" y="3611697"/>
            <a:ext cx="311262" cy="31126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291072" y="40507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/ Storage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6291072" y="4352544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· JSON file-based persistence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0" name="Text 31"/>
          <p:cNvSpPr txBox="1"/>
          <p:nvPr/>
        </p:nvSpPr>
        <p:spPr>
          <a:xfrm>
            <a:off x="86868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four separate processes: FastAPI backend · Vite frontend · LiveKit agent worker · optional Streamlit reviewer. No SQL/NoSQL database — all state is local JSON files.</a:t>
            </a:r>
            <a:endParaRPr lang="en-US" sz="1250" dirty="0"/>
          </a:p>
        </p:txBody>
      </p:sp>
      <p:sp>
        <p:nvSpPr>
          <p:cNvPr id="41" name="Text 32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“WOW” SLIDE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an integrated interview system, not an LLM wrapped in a chat UI.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768096" y="2093976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dif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64" y="2160544"/>
            <a:ext cx="378927" cy="3789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" y="27157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JD grounded generation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32004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generated against real resume facts and a real job description.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9392" y="187452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7"/>
          <p:cNvSpPr/>
          <p:nvPr/>
        </p:nvSpPr>
        <p:spPr>
          <a:xfrm>
            <a:off x="4498848" y="2093976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1" descr="/home/claude/deck/icons/dif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416" y="2160544"/>
            <a:ext cx="378927" cy="3789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8848" y="27157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realtime voice, with barge-in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32004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speech-in/speech-out model with server-side VAD, not a scripted TTS loop.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7452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5" name="Shape 11"/>
          <p:cNvSpPr/>
          <p:nvPr/>
        </p:nvSpPr>
        <p:spPr>
          <a:xfrm>
            <a:off x="8229600" y="2093976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6" name="Image 2" descr="/home/claude/deck/icons/dif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168" y="2160544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7157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32004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can edit and approve AI-generated questions before they're ever asked.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0" name="Shape 15"/>
          <p:cNvSpPr/>
          <p:nvPr/>
        </p:nvSpPr>
        <p:spPr>
          <a:xfrm>
            <a:off x="768096" y="4242816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1" name="Image 3" descr="/home/claude/deck/icons/dif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64" y="4309384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" y="4864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code execution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53492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Pyodide + sandboxed iframe — real code running with zero server-side execution risk.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79392" y="402336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5" name="Shape 19"/>
          <p:cNvSpPr/>
          <p:nvPr/>
        </p:nvSpPr>
        <p:spPr>
          <a:xfrm>
            <a:off x="4498848" y="4242816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26" name="Image 4" descr="/home/claude/deck/icons/dif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416" y="4309384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98848" y="4864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MediaPipe proctoring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53492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face detection and tab-focus tracking, not a static “honor system” checkbox.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402336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0" name="Shape 23"/>
          <p:cNvSpPr/>
          <p:nvPr/>
        </p:nvSpPr>
        <p:spPr>
          <a:xfrm>
            <a:off x="8229600" y="4242816"/>
            <a:ext cx="512064" cy="512064"/>
          </a:xfrm>
          <a:prstGeom prst="ellipse">
            <a:avLst/>
          </a:prstGeom>
          <a:solidFill>
            <a:srgbClr val="0B0E1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31" name="Image 5" descr="/home/claude/deck/icons/dif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168" y="4309384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864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evaluation + reporting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3492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multi-agent scoring — not a single “grade this” prompt.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prototype → production roadmap.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41A24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841248" y="2084832"/>
            <a:ext cx="502920" cy="50292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6" name="Image 0" descr="/home/claude/deck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28" y="2150212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2121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743200"/>
            <a:ext cx="50566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AE" sz="1250" dirty="0">
                <a:solidFill>
                  <a:schemeClr val="bg1"/>
                </a:solidFill>
              </a:rPr>
              <a:t>No integration with a </a:t>
            </a:r>
            <a:r>
              <a:rPr lang="en-AE" sz="1250" b="1" dirty="0">
                <a:solidFill>
                  <a:schemeClr val="bg1"/>
                </a:solidFill>
              </a:rPr>
              <a:t>candidate's</a:t>
            </a:r>
            <a:r>
              <a:rPr lang="en-AE" sz="1250" dirty="0">
                <a:solidFill>
                  <a:schemeClr val="bg1"/>
                </a:solidFill>
              </a:rPr>
              <a:t> GitHub profile for question generation </a:t>
            </a:r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selector has an integration / key mismatch with the live agent.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Adaptive-planning and persona-builder agents run, but their output isn't consumed by the live interview yet.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Progress/coaching screens show scores as /10 while the core report uses /100.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is local JSON files, not a production database.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Eye-contact metric is a face-presence proxy, not true gaze tracking.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30-minute interview cap; limited session concurrency handling.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91072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A212E"/>
          </a:solidFill>
          <a:ln w="12700">
            <a:solidFill>
              <a:srgbClr val="232B3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7"/>
          <p:cNvSpPr/>
          <p:nvPr/>
        </p:nvSpPr>
        <p:spPr>
          <a:xfrm>
            <a:off x="6583680" y="2084832"/>
            <a:ext cx="502920" cy="502920"/>
          </a:xfrm>
          <a:prstGeom prst="ellipse">
            <a:avLst/>
          </a:prstGeom>
          <a:solidFill>
            <a:srgbClr val="1A21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11" name="Image 1" descr="/home/claude/deck/icons/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60" y="215021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121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74320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true GitHub integration for candidate context.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unify adaptive planning with the live voice agent.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persona key mismatch end-to-end.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persistence to a production database.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advanced gaze / behavior analysis.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scalability and multi-session concurrency.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supported coding languages for execution.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1480</Words>
  <Application>Microsoft Office PowerPoint</Application>
  <PresentationFormat>Widescreen</PresentationFormat>
  <Paragraphs>282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K252032 Mariam</cp:lastModifiedBy>
  <cp:revision>2</cp:revision>
  <dcterms:created xsi:type="dcterms:W3CDTF">2026-09-04T08:47:49Z</dcterms:created>
  <dcterms:modified xsi:type="dcterms:W3CDTF">2026-09-04T09:31:19Z</dcterms:modified>
</cp:coreProperties>
</file>